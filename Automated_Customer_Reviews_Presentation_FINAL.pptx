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6A0A4A-AC9A-4BC8-B425-772D1A1FAF32}">
  <a:tblStyle styleId="{0E6A0A4A-AC9A-4BC8-B425-772D1A1FAF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Boa tarde. Este projeto trabalha reviews de clientes da Amazon e resolve tres problemas: classificar o sentimento de cada review, agrupar produtos em categorias maiores, e gerar automaticamente um artigo resumo por categoria. Equipa: Lydia, Marcelo e Don. (~25-30s)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problema de negocio: ha demasiadas reviews, demasiado ruidosas, para consumidores e vendedores lerem manualmente. O objetivo e um sistema de NLP que classifica sentimento, agrupa categorias, e transforma padroes de reviews em insight acionavel -- para dois tipos de utilizador: consumidor e vendedor. (~35s)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lado tecnico: dados em bruto, limpeza e labeling, dataset balanceado, DistilBERT afinado, embeddings de categoria e KMeans, resumos BART offline, artefactos exportados, e a app Gradio a servir tudo isso sem recalcular nada em tempo real. (~35s)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Combinamos duas fontes: Kaggle/Datafiniti com quase 68 mil reviews e categorias de produto reais, e o dataset UCSD via Hugging Face, com 317 mil reviews de todas as categorias. Unificamos as duas num schema comum antes de qualquer analise. (~40s)</a:t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somar as duas fontes de aumento, o dataset ficou desequilibrado na direcao oposta: negative passou a ser a classe maior (39.7%), e positive ficou a mais pequena (26%) porque o dataset primary tinha muitos duplicados internos que so foram removidos nesta fase. Por isso balanceamos para exatamente 43 mil por classe -- o teto real imposto pelo positive ja deduplicado. (~45s)</a:t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pipeline de preparacao teve quatro passos: limpar o texto, mapear rating de 1 a 5 estrelas para sentimento, balancear as classes, e um split 80/20 estratificado para treino e teste. (~40s)</a:t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treinar, testamos um modelo binario ja pronto, sem fine-tuning: 61% de accuracy e 0% de recall na classe neutral, porque um modelo binario nunca pode prever uma classe que nao existe na sua arquitetura. Isso justificou o fine-tuning do DistilBERT nas nossas 3 classes, com 103 mil reviews de treino. (~55s)</a:t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do fine-tuning, o DistilBERT subiu para quase 83% de accuracy, e o recall da classe neutral passou de zero para cerca de 75%. Este e o baseline a bater. (~40s)</a:t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Testamos o RoBERTa em tres configuracoes. A v2 teve o melhor resultado, com um ganho modesto sobre a v1. A v3, mais complexa, com warmup e precisao reduzida, teve pior resultado que a v2 -- como mudamos duas coisas ao mesmo tempo, nao isolamos qual foi a causa exata sem um teste de ablation. (~55s)</a:t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RoBERTa v2 tem a melhor accuracy no geral, mas precisa do dobro dos parametros e quase o dobro do tempo de treino, para um ganho de menos de 1 ponto percentual de F1. (~40s)</a:t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esta a decisao mais importante do projeto: escolhemos o DistilBERT para producao, nao o modelo com melhor numero. A diferenca de qualidade e impercetivel para o utilizador final, mas o DistilBERT e 2.5x mais rapido a inferir e usa metade da memoria -- numa plataforma que processa reviews em tempo real, isso pesa mais do que 1% de F1. (~70s -- slide mais importante, nao apressar)</a:t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agrupar produtos, clusterizamos as 41 categorias -- nao as reviews individuais -- com embeddings semanticos e KMeans. O K ideal, testado estatisticamente, foi 5. Um dos clusters ficou muito mais pequeno que os outros; sinalizamos isso como possivel ruido, nao escondemos. (~50s)</a:t>
            </a:r>
            <a:endParaRPr/>
          </a:p>
        </p:txBody>
      </p:sp>
      <p:sp>
        <p:nvSpPr>
          <p:cNvPr id="312" name="Google Shape;31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cada meta-categoria geramos, offline, tres resumos com o BART -- valor, feedback misto, e queixas -- mapeados a uma taxonomia de 17 temas de negocio e validados por uma auditoria semantica. No cluster de Kindle e Tablets, por exemplo, os clientes valorizam o custo-beneficio e a duracao da bateria, mas tambem reclamam da bateria e da velocidade de carregamento. Estes resumos validados sao os que a app carrega diretamente -- nao ha resumos "mais leves" a substitui-los. (~50s)</a:t>
            </a:r>
            <a:endParaRPr/>
          </a:p>
        </p:txBody>
      </p:sp>
      <p:sp>
        <p:nvSpPr>
          <p:cNvPr id="336" name="Google Shape;33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isto esta numa app interativa em Gradio, com duas vistas: consumidor, que escolhe um grupo de produto em linguagem simples e ve sentimento, rating e temas extraidos ao vivo pela taxonomia -- sem depender do BART -- e vendedor, com quatro separadores: overview, inteligencia de categoria (onde aparecem os resumos validados do BART), performance de produtos, e um classificador ao vivo com o DistilBERT afinado. (~35s)</a:t>
            </a:r>
            <a:endParaRPr/>
          </a:p>
        </p:txBody>
      </p:sp>
      <p:sp>
        <p:nvSpPr>
          <p:cNvPr id="371" name="Google Shape;37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93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C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PROJECT | BUSINESS CASE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Automated Customer Reviews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822960" y="269748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C9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Classification, Clustering &amp; Generative AI Summarization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822960" y="3657600"/>
            <a:ext cx="640080" cy="640080"/>
          </a:xfrm>
          <a:prstGeom prst="ellipse">
            <a:avLst/>
          </a:prstGeom>
          <a:solidFill>
            <a:srgbClr val="3A5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brain_white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978" y="3801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645920" y="36576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023360" y="3657600"/>
            <a:ext cx="640080" cy="640080"/>
          </a:xfrm>
          <a:prstGeom prst="ellipse">
            <a:avLst/>
          </a:prstGeom>
          <a:solidFill>
            <a:srgbClr val="3A5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network_white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7378" y="3801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4846320" y="36576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223760" y="3657600"/>
            <a:ext cx="640080" cy="640080"/>
          </a:xfrm>
          <a:prstGeom prst="ellipse">
            <a:avLst/>
          </a:prstGeom>
          <a:solidFill>
            <a:srgbClr val="3A59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file_white.png" id="22" name="Google Shape;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7778" y="3801618"/>
            <a:ext cx="352044" cy="35204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8046720" y="365760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C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Team: Lydia · Marcelo · Don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949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9498"/>
                </a:solidFill>
                <a:latin typeface="Calibri"/>
                <a:ea typeface="Calibri"/>
                <a:cs typeface="Calibri"/>
                <a:sym typeface="Calibri"/>
              </a:rPr>
              <a:t>Ironhack AI Engineering Bootcamp —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00 · BUSINESS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Too Many Reviews, Too Little Signal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Online reviews are too numerous and too noisy for consumers or sellers to interpret manually at scale — the signal that matters is buried in thousands of unstructured, repetitive comments.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fmla="val 7407" name="adj"/>
            </a:avLst>
          </a:prstGeom>
          <a:solidFill>
            <a:srgbClr val="E4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brain_white.png"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17" y="249059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1508760" y="2377440"/>
            <a:ext cx="9784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13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build an NLP system that classifies sentiment, groups product categories, and turns review patterns into actionable insight — automatically, at scale.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3703320"/>
            <a:ext cx="534924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D98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comments_white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837" y="409079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1554480" y="3995928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Consumers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68680" y="457200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Decide whether a product or category is worth buying, based on real sentiment patterns — not a wall of unread reviews.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63640" y="3703320"/>
            <a:ext cx="534924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583680" y="3977640"/>
            <a:ext cx="502920" cy="502920"/>
          </a:xfrm>
          <a:prstGeom prst="ellipse">
            <a:avLst/>
          </a:prstGeom>
          <a:solidFill>
            <a:srgbClr val="D98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chartpie_white.png" id="45" name="Google Shape;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6837" y="409079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7269480" y="3995928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Sellers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583680" y="4572000"/>
            <a:ext cx="4709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Identify weak spots, top-performing products, and recurring complaints, without reading every review by hand.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00 · BUSINESS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System Architecture: From Raw Data to Product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2377440"/>
            <a:ext cx="14173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44636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037844" y="2542032"/>
            <a:ext cx="438912" cy="438912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database_white.png"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572" y="2651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/>
        </p:nvSpPr>
        <p:spPr>
          <a:xfrm>
            <a:off x="621792" y="3035808"/>
            <a:ext cx="1271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Raw datasets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21792" y="3456432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Kaggle + UCSD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965960" y="2743200"/>
            <a:ext cx="19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156460" y="2377440"/>
            <a:ext cx="14173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44636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645664" y="2542032"/>
            <a:ext cx="438912" cy="438912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tags_white.png" id="65" name="Google Shape;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5392" y="2651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2229612" y="3035808"/>
            <a:ext cx="1271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Clean + label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229612" y="3456432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rating → sentiment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573780" y="2743200"/>
            <a:ext cx="19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764280" y="2377440"/>
            <a:ext cx="14173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44636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253484" y="2542032"/>
            <a:ext cx="438912" cy="438912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layers_white.png" id="71" name="Google Shape;7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3212" y="2651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3837432" y="3035808"/>
            <a:ext cx="1271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Balanced set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837432" y="3456432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129K reviews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181600" y="2743200"/>
            <a:ext cx="19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372100" y="2377440"/>
            <a:ext cx="14173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44636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5861304" y="2542032"/>
            <a:ext cx="438912" cy="438912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brain_white.png" id="77" name="Google Shape;7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71032" y="2651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5445252" y="3035808"/>
            <a:ext cx="1271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Fine-tuned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DistilBERT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45252" y="3456432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sentiment model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789420" y="2743200"/>
            <a:ext cx="19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979920" y="2377440"/>
            <a:ext cx="14173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44636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7469124" y="2542032"/>
            <a:ext cx="438912" cy="438912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network_white.png" id="83" name="Google Shape;8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8852" y="2651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7053072" y="3035808"/>
            <a:ext cx="1271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+ KMeans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053072" y="3456432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5 meta-categories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397240" y="2743200"/>
            <a:ext cx="19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587740" y="2377440"/>
            <a:ext cx="14173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44636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076944" y="2542032"/>
            <a:ext cx="438912" cy="438912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file_white.png" id="89" name="Google Shape;8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86672" y="2651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8660892" y="3035808"/>
            <a:ext cx="1271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BART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summaries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660892" y="3456432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offline articles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005060" y="2743200"/>
            <a:ext cx="1905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0195560" y="2377440"/>
            <a:ext cx="141732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44636B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0684764" y="2542032"/>
            <a:ext cx="438912" cy="438912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mobile_white.png" id="95" name="Google Shape;9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94492" y="265176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10268712" y="3035808"/>
            <a:ext cx="1271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Gradio app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0268712" y="3456432"/>
            <a:ext cx="1271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serves artifacts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Heavy computation (training, clustering, generation) happens once, offline, in the notebook. The app only loads pre-exported artifacts — it never re-trains or re-clusters at runtime.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01 · DATA ACQUISITION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Two Datasets, One Unified Schema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The project needed both real product-category structure and a large, balanced volume of labeled sentiment — so two independent sources were combined.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8640" y="1965960"/>
            <a:ext cx="53492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914400" y="2331720"/>
            <a:ext cx="594360" cy="59436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database_white.png"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131" y="246545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1691640" y="231343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Primary Dataset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691640" y="265176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Kaggle / Datafiniti — Amazon Consumer Reviews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14400" y="320040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67,992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14400" y="411480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Real product categories &amp; product names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Requires Kaggle authentication to download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Used later as the source for Clustering (Section 10)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355080" y="1965960"/>
            <a:ext cx="534924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720840" y="2331720"/>
            <a:ext cx="594360" cy="59436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layers_white.png" id="118" name="Google Shape;11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4571" y="246545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7498080" y="231343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Larger Dataset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498080" y="265176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UCSD Amazon Reviews 2023 (via Hugging Face)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720840" y="3200400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317,201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reviews, all categories sampled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720840" y="4114800"/>
            <a:ext cx="4617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Adds volume and category diversity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6 columns: text, rating, sentiment, product, category, source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Used to enrich sentiment balance before 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01 · DATA ACQUISITION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Merging &amp; Balancing the Sentiment Classes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48640" y="132588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Star ratings were mapped to sentiment (1–2★ negative, 3★ neutral, 4–5★ positive). The natural merge was heavily skewed toward positive reviews — extra negative/neutral samples were added in two augmentation steps (Amazon Reviews 2023, then a Hugging Face corpus), then the dataset was balanced.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48640" y="2057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Before balancing (after merge + augmentation)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23160"/>
            <a:ext cx="54864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548640" y="5349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26.0% pos · 39.7% neg · 34.3% neutral — 165,355 reviews total (post-dedup, pre-cap)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0" y="20574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After balancing (final training set)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2423160"/>
            <a:ext cx="54864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/>
          <p:nvPr/>
        </p:nvSpPr>
        <p:spPr>
          <a:xfrm>
            <a:off x="6400800" y="5349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43,000 reviews per class — 129,000 total (103,200 train / 25,800 test)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02 · EDA &amp; PREPARATION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From Raw Reviews to a Model-Ready Split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5544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1600200" y="1783080"/>
            <a:ext cx="548640" cy="54864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database_white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3644" y="19065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685800" y="24688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Clean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31520" y="276148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Deduplicate, strip HTML/newlines, drop empty or malformed reviews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218688" y="2240280"/>
            <a:ext cx="210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429000" y="15544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480560" y="1783080"/>
            <a:ext cx="548640" cy="54864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tags_white.png"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4004" y="19065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3566160" y="24688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Label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611880" y="276148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Map star rating → sentiment (1–2★ neg, 3★ neutral, 4–5★ pos)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099048" y="2240280"/>
            <a:ext cx="210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309360" y="15544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360920" y="1783080"/>
            <a:ext cx="548640" cy="54864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layers_white.png" id="162" name="Google Shape;16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4364" y="19065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6446520" y="24688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Balance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92240" y="276148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Augment with Hugging Face reviews, cap at 43,000 / class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979408" y="2240280"/>
            <a:ext cx="2103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189720" y="1554480"/>
            <a:ext cx="265176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0241280" y="1783080"/>
            <a:ext cx="548640" cy="54864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chartpie_white.png" id="168" name="Google Shape;16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64724" y="19065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9326880" y="24688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Split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9372600" y="2761488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80 / 20 stratified train-test split, fixed random seed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48640" y="3703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Final training corpus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48640" y="406908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685800" y="4178808"/>
            <a:ext cx="2240280" cy="7795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129,000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85800" y="4919472"/>
            <a:ext cx="22402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total balanced reviews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200400" y="406908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337560" y="4178808"/>
            <a:ext cx="2240280" cy="7795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103,200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337560" y="4919472"/>
            <a:ext cx="22402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train (80%)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852160" y="406908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989320" y="4178808"/>
            <a:ext cx="2240280" cy="7795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25,800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989320" y="4919472"/>
            <a:ext cx="224028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test (20%)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503920" y="4069080"/>
            <a:ext cx="31089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641080" y="4178808"/>
            <a:ext cx="2834640" cy="7795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3 classes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641080" y="4919472"/>
            <a:ext cx="2834640" cy="538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negative · neutral · positive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03 · SENTIMENT MODEL — BASELINE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DistilBERT: Why Fine-Tuning Is Required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Off-the-shelf sentiment models on Hugging Face are almost always binary (positive / negative). Testing one directly on our 3-class data exposes the problem.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1965960"/>
            <a:ext cx="5212080" cy="3566160"/>
          </a:xfrm>
          <a:prstGeom prst="roundRect">
            <a:avLst>
              <a:gd fmla="val 2564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868680" y="21945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Zero-shot baseline (no fine-tuning)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68680" y="25146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distilbert-base-uncased-finetuned-sst-2-english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68680" y="2926080"/>
            <a:ext cx="146304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1005840" y="3035808"/>
            <a:ext cx="1188720" cy="5783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61%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005840" y="3557016"/>
            <a:ext cx="1188720" cy="399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2468880" y="2926080"/>
            <a:ext cx="146304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2606040" y="3035808"/>
            <a:ext cx="1188720" cy="5783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0.49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606040" y="3557016"/>
            <a:ext cx="1188720" cy="399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069080" y="2926080"/>
            <a:ext cx="146304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206240" y="3035808"/>
            <a:ext cx="1188720" cy="5783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0%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206240" y="3557016"/>
            <a:ext cx="1188720" cy="399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neutral recall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68680" y="4160520"/>
            <a:ext cx="4617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A binary model structurally cannot predict a class it never saw in training — neutral recall is not low, it is impossible. This is the concrete justification for fine-tuning.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309360" y="1965960"/>
            <a:ext cx="5303520" cy="3566160"/>
          </a:xfrm>
          <a:prstGeom prst="roundRect">
            <a:avLst>
              <a:gd fmla="val 2564" name="adj"/>
            </a:avLst>
          </a:prstGeom>
          <a:solidFill>
            <a:srgbClr val="E4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583680" y="2212848"/>
            <a:ext cx="548640" cy="54864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brain_white.png"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7124" y="233629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7269480" y="22860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Fine-tuning setup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583680" y="288036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686800" y="288036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distilbert-base-uncased (66M params)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583680" y="3186684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8686800" y="3186684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3-class classification head (replaces 2-class)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583680" y="3493008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Train / test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8686800" y="3493008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103,200 / 25,800 reviews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583680" y="3799332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8686800" y="3799332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583680" y="4105656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686800" y="4105656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583680" y="4411980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Learning rate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686800" y="4411980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2e-5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583680" y="4718304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Max sequence length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686800" y="4718304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256 tokens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583680" y="5024628"/>
            <a:ext cx="2103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Training time (Colab T4)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686800" y="5024628"/>
            <a:ext cx="2788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~50 minutes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03 · SENTIMENT MODEL — BASELINE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DistilBERT Fine-Tuned: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685800" y="1664208"/>
            <a:ext cx="233172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82.88%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85800" y="2487168"/>
            <a:ext cx="233172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3474720" y="1664208"/>
            <a:ext cx="233172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0.8285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474720" y="2487168"/>
            <a:ext cx="233172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263640" y="1664208"/>
            <a:ext cx="233172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0.8285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263640" y="2487168"/>
            <a:ext cx="233172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weighted F1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915400" y="155448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9052560" y="1664208"/>
            <a:ext cx="242316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66M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052560" y="2487168"/>
            <a:ext cx="242316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48640" y="3383280"/>
            <a:ext cx="11064240" cy="219456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D98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bolt_white.png" id="250" name="Google Shape;2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837" y="372503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/>
          <p:nvPr/>
        </p:nvSpPr>
        <p:spPr>
          <a:xfrm>
            <a:off x="1508760" y="363931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Fine-tuning closes the gap dramatically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68680" y="4114800"/>
            <a:ext cx="10424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Macro F1 jumped from 0.49 (zero-shot) to 0.8285 after fine-tuning on the balanced 3-class dataset.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3A3E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Neutral-class recall — the hardest class, since it requires distinguishing genuinely mixed sentiment — rose from a structural 0% to roughly 75%.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3A3E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This baseline becomes the model to beat with a larger architecture: RoBERTa.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04 · SENTIMENT MODEL — COMPARISON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RoBERTa: Three Training Iterations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roberta-base (125M params, ~2x DistilBERT) was fine-tuned on the same data, iterating on hyperparameters to test whether a larger model meaningfully improves results.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11"/>
          <p:cNvGraphicFramePr/>
          <p:nvPr/>
        </p:nvGraphicFramePr>
        <p:xfrm>
          <a:off x="5486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{0E6A0A4A-AC9A-4BC8-B425-772D1A1FAF32}</a:tableStyleId>
              </a:tblPr>
              <a:tblGrid>
                <a:gridCol w="1005850"/>
                <a:gridCol w="914400"/>
                <a:gridCol w="914400"/>
                <a:gridCol w="914400"/>
                <a:gridCol w="1645925"/>
                <a:gridCol w="1097275"/>
                <a:gridCol w="45720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Warmup / fp16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 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2e-5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0.8387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RoBERTa configuration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1e-5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overall — larger batch, lower LR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1e-5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 + fp16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Underperformed v2 — added complexity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11"/>
          <p:cNvSpPr/>
          <p:nvPr/>
        </p:nvSpPr>
        <p:spPr>
          <a:xfrm>
            <a:off x="548640" y="3749040"/>
            <a:ext cx="11064240" cy="1874520"/>
          </a:xfrm>
          <a:prstGeom prst="roundRect">
            <a:avLst>
              <a:gd fmla="val 4878" name="adj"/>
            </a:avLst>
          </a:prstGeom>
          <a:solidFill>
            <a:srgbClr val="E4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868680" y="3950208"/>
            <a:ext cx="10424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v1 → v2 (+0.0017 F1): </a:t>
            </a: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small gain — larger batch and lower LR helped modestly.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v2 → v3 (−0.0080 F1): </a:t>
            </a:r>
            <a:r>
              <a:rPr lang="en-US" sz="12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v3 underperformed v2. Warmup and fp16 were introduced together, so the exact cause cannot be isolated without an ablation test — but stacking optimizations without tuning them jointly is a known risk.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04 · SENTIMENT MODEL — COMPARISON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RoBERTa v2: Best Accuracy, at a Cost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85800" y="1709928"/>
            <a:ext cx="233172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84.07%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85800" y="2532888"/>
            <a:ext cx="233172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accuracy (v2)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3337560" y="160020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3474720" y="1709928"/>
            <a:ext cx="233172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0.8404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3474720" y="2532888"/>
            <a:ext cx="233172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macro F1 (v2)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126480" y="1600200"/>
            <a:ext cx="260604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6263640" y="1709928"/>
            <a:ext cx="233172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125M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6263640" y="2532888"/>
            <a:ext cx="233172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8915400" y="160020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9052560" y="1709928"/>
            <a:ext cx="2423160" cy="85496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+1.19pp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9052560" y="2532888"/>
            <a:ext cx="2423160" cy="590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F1 vs DistilBERT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48640" y="3429000"/>
            <a:ext cx="11064240" cy="2148840"/>
          </a:xfrm>
          <a:prstGeom prst="roundRect">
            <a:avLst>
              <a:gd fmla="val 4255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clipboard_white.png" id="289" name="Google Shape;2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837" y="37707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/>
          <p:nvPr/>
        </p:nvSpPr>
        <p:spPr>
          <a:xfrm>
            <a:off x="1508760" y="368503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Is the gain worth the cost?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868680" y="4160520"/>
            <a:ext cx="10424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RoBERTa v2 is the highest-accuracy model overall, but needs 2× the parameters, ~2.5× the training time, and roughly double the memory of DistilBERT.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3A3E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A +1.19 percentage-point Macro F1 gain is barely perceptible to end users of a review-aggregation product.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B3A3E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Conclusion carried into the Evaluation section: this cost/benefit trade-off directly drives the production model choice.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05 · EVALUATION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Production Decision: DistilBERT Fine-Tuned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57607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3"/>
          <p:cNvSpPr/>
          <p:nvPr/>
        </p:nvSpPr>
        <p:spPr>
          <a:xfrm>
            <a:off x="457200" y="4709160"/>
            <a:ext cx="5760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Ceiling around ~84%: label noise from mapping star ratings to sentiment (a 3-star “great product, terrible shipping” review is genuinely ambiguous, even for a human annotator).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400800" y="1371600"/>
            <a:ext cx="5212080" cy="3931920"/>
          </a:xfrm>
          <a:prstGeom prst="roundRect">
            <a:avLst>
              <a:gd fmla="val 232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6675120" y="15544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DistilBERT vs. RoBERTa v2 (best)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5" name="Google Shape;305;p13"/>
          <p:cNvGraphicFramePr/>
          <p:nvPr/>
        </p:nvGraphicFramePr>
        <p:xfrm>
          <a:off x="667512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{0E6A0A4A-AC9A-4BC8-B425-772D1A1FAF32}</a:tableStyleId>
              </a:tblPr>
              <a:tblGrid>
                <a:gridCol w="1828800"/>
                <a:gridCol w="1417325"/>
                <a:gridCol w="1417325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Criterion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DistilBERT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RoBERTa v2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 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0.8285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time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 min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~1h 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speed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~2.5× faster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 footprint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~250 MB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~500 MB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6" name="Google Shape;306;p13"/>
          <p:cNvSpPr/>
          <p:nvPr/>
        </p:nvSpPr>
        <p:spPr>
          <a:xfrm>
            <a:off x="6675120" y="388620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A +1.19pp gain does not justify doubling infrastructure cost for real-time review processing. Selected for deployment: DistilBERT fine-tuned — powers the app's live sentiment classifier.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06 · CLUSTERING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Grouping 41 Categories into 5 Meta-Categories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Categories (not individual reviews) are embedded with all-MiniLM-L6-v2 using chunked mean-pooling, then grouped with KMeans. K was selected by silhouette score within the allowed range.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548640" y="1965960"/>
            <a:ext cx="22860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685800" y="2075688"/>
            <a:ext cx="2011680" cy="6789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41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685800" y="2706624"/>
            <a:ext cx="2011680" cy="46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product categories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2971800" y="1965960"/>
            <a:ext cx="22860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3108960" y="2075688"/>
            <a:ext cx="2011680" cy="6789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K = 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108960" y="2706624"/>
            <a:ext cx="2011680" cy="46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silhouette = 0.233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394960" y="1965960"/>
            <a:ext cx="22860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"/>
          <p:cNvSpPr/>
          <p:nvPr/>
        </p:nvSpPr>
        <p:spPr>
          <a:xfrm>
            <a:off x="5532120" y="2075688"/>
            <a:ext cx="2011680" cy="6789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0.233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532120" y="2706624"/>
            <a:ext cx="2011680" cy="46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silhouette score, chosen 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6" name="Google Shape;326;p14"/>
          <p:cNvGraphicFramePr/>
          <p:nvPr/>
        </p:nvGraphicFramePr>
        <p:xfrm>
          <a:off x="548640" y="338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{0E6A0A4A-AC9A-4BC8-B425-772D1A1FAF32}</a:tableStyleId>
              </a:tblPr>
              <a:tblGrid>
                <a:gridCol w="548650"/>
                <a:gridCol w="4023350"/>
                <a:gridCol w="1371600"/>
                <a:gridCol w="1737350"/>
              </a:tblGrid>
              <a:tr h="44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Meta-category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636B"/>
                    </a:solidFill>
                  </a:tcPr>
                </a:tc>
              </a:tr>
              <a:tr h="44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 TV, Refurbished &amp; Promotional Electronics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5,076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Chargers, Cables &amp; Device Accessories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FEE"/>
                    </a:solidFill>
                  </a:tcPr>
                </a:tc>
              </a:tr>
              <a:tr h="44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Kindle, Tablets, Batteries &amp; Office Products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53,284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9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Accessories, Cases, Stands &amp; Pet Supplies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9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9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9E1"/>
                    </a:solidFill>
                  </a:tcPr>
                </a:tc>
              </a:tr>
              <a:tr h="44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Echo, Alexa &amp; Home Entertainment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3A3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B3A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8,924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4E9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14"/>
          <p:cNvSpPr/>
          <p:nvPr/>
        </p:nvSpPr>
        <p:spPr>
          <a:xfrm>
            <a:off x="8458200" y="3383280"/>
            <a:ext cx="3154680" cy="2651760"/>
          </a:xfrm>
          <a:prstGeom prst="roundRect">
            <a:avLst>
              <a:gd fmla="val 3448" name="adj"/>
            </a:avLst>
          </a:prstGeom>
          <a:solidFill>
            <a:srgbClr val="E4EF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8732520" y="3611880"/>
            <a:ext cx="457200" cy="457200"/>
          </a:xfrm>
          <a:prstGeom prst="ellipse">
            <a:avLst/>
          </a:prstGeom>
          <a:solidFill>
            <a:srgbClr val="D98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network_white.png" id="329" name="Google Shape;32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5390" y="371475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4"/>
          <p:cNvSpPr/>
          <p:nvPr/>
        </p:nvSpPr>
        <p:spPr>
          <a:xfrm>
            <a:off x="8732520" y="4206240"/>
            <a:ext cx="2651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Cluster 3 is treated as a low-confidence cluster due to low review support (102 reviews across 11 categories) — flagged explicitly, not hidden.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C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07 · GENERATIVE 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Transformer-Based Review Summarization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facebook/bart-large-cnn summarizes ranked review evidence per sentiment (value / mixed / concerns), mapped to a 17-theme business taxonomy, then checked by a semantic quality audit — offline, in the notebook.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548640" y="19659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685800" y="19659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1143000" y="19659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Rank products, select evidence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3383280" y="19659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3520440" y="19659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3977640" y="19659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BART summarizes each sentiment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6217920" y="19659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6355080" y="19659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6812280" y="19659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Map to business taxonomy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9052560" y="1965960"/>
            <a:ext cx="260604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9189720" y="1965960"/>
            <a:ext cx="457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D98E7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9646920" y="1965960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Semantic + tone audit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548640" y="2971800"/>
            <a:ext cx="11064240" cy="306324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4463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file_white.png" id="355" name="Google Shape;3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117" y="3313557"/>
            <a:ext cx="276606" cy="27660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/>
          <p:nvPr/>
        </p:nvSpPr>
        <p:spPr>
          <a:xfrm>
            <a:off x="1463040" y="322783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2B3A3E"/>
                </a:solidFill>
                <a:latin typeface="Cambria"/>
                <a:ea typeface="Cambria"/>
                <a:cs typeface="Cambria"/>
                <a:sym typeface="Cambria"/>
              </a:rPr>
              <a:t>Example — Cluster: Kindle, Tablets, Batteries &amp; Office Products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822960" y="3794760"/>
            <a:ext cx="1828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960120" y="3904488"/>
            <a:ext cx="15544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36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44636B"/>
                </a:solidFill>
                <a:latin typeface="Cambria"/>
                <a:ea typeface="Cambria"/>
                <a:cs typeface="Cambria"/>
                <a:sym typeface="Cambria"/>
              </a:rPr>
              <a:t>50,723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960120" y="4425696"/>
            <a:ext cx="15544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2788920" y="3794760"/>
            <a:ext cx="182880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4E9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44636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2926080" y="3904488"/>
            <a:ext cx="1554480" cy="5783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99A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7FA99A"/>
                </a:solidFill>
                <a:latin typeface="Cambria"/>
                <a:ea typeface="Cambria"/>
                <a:cs typeface="Cambria"/>
                <a:sym typeface="Cambria"/>
              </a:rPr>
              <a:t>91.1%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2926080" y="4425696"/>
            <a:ext cx="1554480" cy="399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4846320" y="3794760"/>
            <a:ext cx="6309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3A3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2B3A3E"/>
                </a:solidFill>
                <a:latin typeface="Calibri"/>
                <a:ea typeface="Calibri"/>
                <a:cs typeface="Calibri"/>
                <a:sym typeface="Calibri"/>
              </a:rPr>
              <a:t>“Customers consistently praise value for money, battery life, and ease of use and setup — while recurring complaints focus on charging speed and reliability and battery life.”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Product flagged for attention: AmazonBasics AAA Performance Alkaline Batteries (36 Count) — filtered by minimum review count and excludes raw ASIN / “Unknown” placeholders.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822960" y="5468112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These validated summaries export to generated_articles.csv and are loaded directly by the app's Category intelligence tab (next slide) — a taxonomy fallback applies only to individual fields lacking sufficient evidence.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F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E7F8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93D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8E7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8E73"/>
                </a:solidFill>
                <a:latin typeface="Calibri"/>
                <a:ea typeface="Calibri"/>
                <a:cs typeface="Calibri"/>
                <a:sym typeface="Calibri"/>
              </a:rPr>
              <a:t>08 · DEPLOYMENT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App: A Gradio Demo for Two Audiences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548640" y="1691640"/>
            <a:ext cx="5257800" cy="3063240"/>
          </a:xfrm>
          <a:prstGeom prst="roundRect">
            <a:avLst>
              <a:gd fmla="val 2985" name="adj"/>
            </a:avLst>
          </a:prstGeom>
          <a:solidFill>
            <a:srgbClr val="334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98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comments_white.png" id="377" name="Google Shape;3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24" y="21351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6"/>
          <p:cNvSpPr/>
          <p:nvPr/>
        </p:nvSpPr>
        <p:spPr>
          <a:xfrm>
            <a:off x="1554480" y="205740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Consumer view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914400" y="2697480"/>
            <a:ext cx="4526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ECBC9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Pick from 8 plain-language product groups</a:t>
            </a: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 — a separate, simpler taxonomy than the 5 ML meta-clusters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AECBC9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One click (“Analyse”) returns sentiment, average rating, strengths and concerns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AECBC9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Strengths &amp; concerns extracted live via the same theme taxonomy — no BART or file dependency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6263640" y="1691640"/>
            <a:ext cx="5257800" cy="3063240"/>
          </a:xfrm>
          <a:prstGeom prst="roundRect">
            <a:avLst>
              <a:gd fmla="val 2985" name="adj"/>
            </a:avLst>
          </a:prstGeom>
          <a:solidFill>
            <a:srgbClr val="334F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D98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./icons/chartpie_white.png" id="382" name="Google Shape;3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7124" y="21351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6"/>
          <p:cNvSpPr/>
          <p:nvPr/>
        </p:nvSpPr>
        <p:spPr>
          <a:xfrm>
            <a:off x="7269480" y="2057400"/>
            <a:ext cx="3977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Seller view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6629400" y="2697480"/>
            <a:ext cx="4526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ECBC9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Overview — portfolio sentiment, weakest &amp; strongest meta-category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AECBC9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Category intelligence — 3D cluster view + the quality-audited BART summary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AECBC9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Product performance — top &amp; worst products by sentiment and volume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AECBC9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Review analyzer — live DistilBERT classifier for a pasted review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BC9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AECBC9"/>
                </a:solidFill>
                <a:latin typeface="Calibri"/>
                <a:ea typeface="Calibri"/>
                <a:cs typeface="Calibri"/>
                <a:sym typeface="Calibri"/>
              </a:rPr>
              <a:t>Built with Gradio, deployed with a public share link from Colab. Serves pre-exported artifacts — including audited BART summaries — and the fine-tuned DistilBERT; nothing trains or generates live.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949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C9498"/>
                </a:solidFill>
                <a:latin typeface="Calibri"/>
                <a:ea typeface="Calibri"/>
                <a:cs typeface="Calibri"/>
                <a:sym typeface="Calibri"/>
              </a:rPr>
              <a:t>Automated Customer Reviews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949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7C949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